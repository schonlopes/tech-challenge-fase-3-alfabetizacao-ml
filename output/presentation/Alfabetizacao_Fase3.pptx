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7d6ffaa788483b" /><Relationship Type="http://schemas.openxmlformats.org/officeDocument/2006/relationships/extended-properties" Target="/docProps/app.xml" Id="R2c626260bfaf45ea" /><Relationship Type="http://schemas.openxmlformats.org/officeDocument/2006/relationships/officeDocument" Target="/ppt/presentation.xml" Id="R43660f383b2c46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16bfc487a24b2f"/>
  </p:sldMasterIdLst>
  <p:notesMasterIdLst>
    <p:notesMasterId xmlns:r="http://schemas.openxmlformats.org/officeDocument/2006/relationships" r:id="Rf9038209e4d5483d"/>
  </p:notesMasterIdLst>
  <p:sldIdLst>
    <p:sldId xmlns:r="http://schemas.openxmlformats.org/officeDocument/2006/relationships" id="256" r:id="R1ffee0ce7615424c"/>
    <p:sldId xmlns:r="http://schemas.openxmlformats.org/officeDocument/2006/relationships" id="257" r:id="Re2cacb2bf3af4423"/>
    <p:sldId xmlns:r="http://schemas.openxmlformats.org/officeDocument/2006/relationships" id="258" r:id="Ra358dccd76e0499e"/>
    <p:sldId xmlns:r="http://schemas.openxmlformats.org/officeDocument/2006/relationships" id="259" r:id="Rfacf7c1c3b5144a6"/>
    <p:sldId xmlns:r="http://schemas.openxmlformats.org/officeDocument/2006/relationships" id="260" r:id="Re4a2589031054d64"/>
    <p:sldId xmlns:r="http://schemas.openxmlformats.org/officeDocument/2006/relationships" id="261" r:id="Rcaa5ae84b00c4afa"/>
    <p:sldId xmlns:r="http://schemas.openxmlformats.org/officeDocument/2006/relationships" id="262" r:id="Rb603afb5dcb64e4d"/>
    <p:sldId xmlns:r="http://schemas.openxmlformats.org/officeDocument/2006/relationships" id="263" r:id="R7a6862b72ec446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cac2502e42424f" /><Relationship Type="http://schemas.openxmlformats.org/officeDocument/2006/relationships/slideMaster" Target="/ppt/slideMasters/slideMaster1.xml" Id="R8016bfc487a24b2f" /><Relationship Type="http://schemas.openxmlformats.org/officeDocument/2006/relationships/notesMaster" Target="/ppt/notesMasters/notesMaster1.xml" Id="Rf9038209e4d5483d" /><Relationship Type="http://schemas.openxmlformats.org/officeDocument/2006/relationships/presProps" Target="/ppt/presProps.xml" Id="R074bd094abd94d08" /><Relationship Type="http://schemas.openxmlformats.org/officeDocument/2006/relationships/tableStyles" Target="/ppt/tableStyles.xml" Id="R0c8c4fcb328e423d" /><Relationship Type="http://schemas.openxmlformats.org/officeDocument/2006/relationships/slide" Target="/ppt/slides/slide1.xml" Id="R1ffee0ce7615424c" /><Relationship Type="http://schemas.openxmlformats.org/officeDocument/2006/relationships/slide" Target="/ppt/slides/slide2.xml" Id="Re2cacb2bf3af4423" /><Relationship Type="http://schemas.openxmlformats.org/officeDocument/2006/relationships/slide" Target="/ppt/slides/slide3.xml" Id="Ra358dccd76e0499e" /><Relationship Type="http://schemas.openxmlformats.org/officeDocument/2006/relationships/slide" Target="/ppt/slides/slide4.xml" Id="Rfacf7c1c3b5144a6" /><Relationship Type="http://schemas.openxmlformats.org/officeDocument/2006/relationships/slide" Target="/ppt/slides/slide5.xml" Id="Re4a2589031054d64" /><Relationship Type="http://schemas.openxmlformats.org/officeDocument/2006/relationships/slide" Target="/ppt/slides/slide6.xml" Id="Rcaa5ae84b00c4afa" /><Relationship Type="http://schemas.openxmlformats.org/officeDocument/2006/relationships/slide" Target="/ppt/slides/slide7.xml" Id="Rb603afb5dcb64e4d" /><Relationship Type="http://schemas.openxmlformats.org/officeDocument/2006/relationships/slide" Target="/ppt/slides/slide8.xml" Id="R7a6862b72ec446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d5abad1fe943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4966a9d8d24753" /><Relationship Type="http://schemas.openxmlformats.org/officeDocument/2006/relationships/notesMaster" Target="/ppt/notesMasters/notesMaster1.xml" Id="R5e0a7664a55747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8f86a51a844693" /><Relationship Type="http://schemas.openxmlformats.org/officeDocument/2006/relationships/notesMaster" Target="/ppt/notesMasters/notesMaster1.xml" Id="R2f6f331ad8ac41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ee6bde095b49a3" /><Relationship Type="http://schemas.openxmlformats.org/officeDocument/2006/relationships/notesMaster" Target="/ppt/notesMasters/notesMaster1.xml" Id="Redfe8ac52c2842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416964d4b14b76" /><Relationship Type="http://schemas.openxmlformats.org/officeDocument/2006/relationships/notesMaster" Target="/ppt/notesMasters/notesMaster1.xml" Id="R06dc3c96dcbf40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493c540ea14136" /><Relationship Type="http://schemas.openxmlformats.org/officeDocument/2006/relationships/notesMaster" Target="/ppt/notesMasters/notesMaster1.xml" Id="R262b3fd7555c45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afa89b663a44fd" /><Relationship Type="http://schemas.openxmlformats.org/officeDocument/2006/relationships/notesMaster" Target="/ppt/notesMasters/notesMaster1.xml" Id="R6cea1e03d68b43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0ce3c831c2451a" /><Relationship Type="http://schemas.openxmlformats.org/officeDocument/2006/relationships/notesMaster" Target="/ppt/notesMasters/notesMaster1.xml" Id="Rbcdbaabe078d4e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9ce63038a94f7c" /><Relationship Type="http://schemas.openxmlformats.org/officeDocument/2006/relationships/notesMaster" Target="/ppt/notesMasters/notesMaster1.xml" Id="R30ed751cb3f54c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00:00 a 00:18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Olá, sou Willian Schön Lopes. Neste projeto, utilizei os dados de alfabetização para estimar risco educacional e analisar diferenças entre municípios. A proposta é apoiar gestores na organização do acompanhamento pedagógico e no planejamento de políticas públicas, com evidências e limites explícitos.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README.md; docs/atendimento_requisitos.md.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00:18 a 00:56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desafio principal é classificar se um aluno foi considerado alfabetizado ou não. Como a Gold da fase anterior era municipal, construí uma extensão local de modelagem, integrando os alunos válidos da Silver ao contexto histórico da Gold. A amostra contém cerca de 92 mil alunos de 2024, em mais de cinco mil municípios. Utilizei o indicador municipal de 2023 e a população de 2022. Excluí ausentes e registros sem proficiência válida. A proficiência individual não entra como variável preditora.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reports/v1/split_summary.csv; sql/extract_training.sql; README.md.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00:56 a 01:38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separação entre treino, validação e teste mantém cada município em um único conjunto, reduzindo o vazamento territorial. A pipeline integra imputação por mediana, transformação da população, padronização e codificação das categorias. Comparei referências simples, regressão logística e floresta aleatória. A busca de hiperparâmetros usa validação cruzada por município apenas no treino. Escolhi o modelo na validação e preservei o teste para a avaliação original. Essa separação mede generalização territorial em 2024, mas ainda não comprova previsão para anos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src/run.py; src/modeling/pipelines.py; src/preprocessing/dataset.py; reports/v1/experiment.json.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01:38 a 02:20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regressão logística foi a referência selecionada. No teste, sua precisão média, ou average precision, foi de aproximadamente zero vírgula cinquenta e três, contra zero vírgula cinquenta e um do indicador histórico. A área sob a curva ROC foi de zero vírgula sessenta e seis. O ganho observado é modesto e não significa cinquenta e três por cento de acurácia. Depois, acrescentei contexto socioeconômico e econômico. Como não houve melhora na validação, mantive o modelo mais simples, sem reutilizar o teste para essa escolha.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reports/v1/experiment.json; reports/v2/experiment.json; reports/v2/validation_comparison.csv.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02:20 a 03:03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análise SHAP mostra que o histórico municipal tem maior influência nas previsões, seguido pela localização. Isso reforça que o modelo estima principalmente risco contextual e não explica causalidade. Também há uma limitação operacional importante: o limiar que busca alto recall sinaliza quase 96 por cento dos alunos. Portanto, não oferece uma priorização seletiva. A alternativa de sinalizar cerca de 20 por cento foi explorada somente na validação. Por isso, a ferramenta entrega escores por padrão e mantém qualquer decisão pedagógica sob responsabilidade humana.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reports/v2/shap_global.csv; reports/v1/experiment.json; reports/v2/frozen_v1_logistic_capacity.csv; docs/modelo_e_politica.md.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03:03 a 03:48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análise territorial, identifiquei dois perfis entre mais de cinco mil municípios, sem utilizar alfabetização para formar os grupos. Depois, observei médias municipais de alfabetização próximas de 67 e 58 por cento. São médias não ponderadas e associações, não efeitos causais. O contexto social utilizado é de 2010, o que limita sua atualização. Além disso, 2.444 dos 5.232 municípios com dados comparáveis ficaram abaixo da meta de 2024. Os cenários até 2030 ajudam a discutir o avanço necessário, mas não são previsões estatisticamente validadas.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reports/territorial/profile_summary.csv; reports/territorial/summary.json; reports/territorial/INTERPRETACAO.md.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03:48 a 04:20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Esta captura mostra uma consulta realmente concluída no BigQuery, com processamento e limite de consumo registrados. Os dados e as consultas ficam no GCP, enquanto o treinamento ocorreu localmente. O projeto conta com 36 testes aprovados, demonstração artificial sem credenciais e previsão com o modelo salvo. Cada execução preserva parâmetros, versões e hashes. O histórico de commits e as branches locais documentam a evolução, sem publicar os registros individuais dos alunos.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images/evidence/gcp_query_processing_controls.png; reports/evidence/GCP_SCREENSHOTS.md; reports/VERIFICACAO_ENGENHARIA.md; docs/GIT_WORKFLOW.md.</a:t>
            </a:r>
          </a:p>
          <a:p xmlns:a="http://schemas.openxmlformats.org/drawingml/2006/main">
            <a:r>
              <a:t>A captura é real. Treinamento local. PRs remotas ainda pendentes; não afirmar publicação concluída.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04:20 a 04:45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valor estratégico está em combinar acompanhamento pedagógico com planejamento territorial e monitoramento de metas. A solução oferece uma base auditável para discutir onde aprofundar diagnósticos e como distribuir apoio. Antes do uso operacional, precisamos atualizar o contexto, avaliar uma nova coorte e pactuar critérios com os educadores. A tecnologia apoia a decisão pública, preservando a avaliação humana. Obrigado.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README.md; docs/modelo_e_politica.md.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daacd50444c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ef0c7c27e42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b48f38b9f4e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5511a603343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c739d1b664f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7fa0ca26c4e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0B701A-945D-4CCA-8D25-6656EABB9F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CA3381-8DEB-4776-B490-5FB9BE3EAB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BD64CA-D7AA-477E-AF37-C273E3D45B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E0A747-E777-4181-A826-69679FBA1C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D869B9-B608-412C-B62B-2A8911F3BB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F7222E-AB65-4166-9FCA-634DF90D6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735CBE-B2F7-49AB-996F-9BFABF873B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04AD8C-5944-4E83-97F0-C10AC548F9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0448EC-4EFE-4332-A9D3-A010A8EBD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78EDA9-9A2C-4F66-93DF-477E97FA8B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6842a2e2c34955" /><Relationship Type="http://schemas.openxmlformats.org/officeDocument/2006/relationships/slideLayout" Target="/ppt/slideLayouts/slideLayout1.xml" Id="R256502c0d97c4cfd" /><Relationship Type="http://schemas.openxmlformats.org/officeDocument/2006/relationships/slideLayout" Target="/ppt/slideLayouts/slideLayout2.xml" Id="R4eb8c451991541ca" /><Relationship Type="http://schemas.openxmlformats.org/officeDocument/2006/relationships/slideLayout" Target="/ppt/slideLayouts/slideLayout3.xml" Id="Ra9acd180121d4564" /><Relationship Type="http://schemas.openxmlformats.org/officeDocument/2006/relationships/slideLayout" Target="/ppt/slideLayouts/slideLayout4.xml" Id="R5cf698da1bb443c1" /><Relationship Type="http://schemas.openxmlformats.org/officeDocument/2006/relationships/slideLayout" Target="/ppt/slideLayouts/slideLayout5.xml" Id="R2065219f822c4759" /><Relationship Type="http://schemas.openxmlformats.org/officeDocument/2006/relationships/slideLayout" Target="/ppt/slideLayouts/slideLayout6.xml" Id="R6881550b31724f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6502c0d97c4cfd"/>
    <p:sldLayoutId xmlns:r="http://schemas.openxmlformats.org/officeDocument/2006/relationships" id="2147483650" r:id="R4eb8c451991541ca"/>
    <p:sldLayoutId xmlns:r="http://schemas.openxmlformats.org/officeDocument/2006/relationships" id="2147483651" r:id="Ra9acd180121d4564"/>
    <p:sldLayoutId xmlns:r="http://schemas.openxmlformats.org/officeDocument/2006/relationships" id="2147483652" r:id="R5cf698da1bb443c1"/>
    <p:sldLayoutId xmlns:r="http://schemas.openxmlformats.org/officeDocument/2006/relationships" id="2147483653" r:id="R2065219f822c4759"/>
    <p:sldLayoutId xmlns:r="http://schemas.openxmlformats.org/officeDocument/2006/relationships" id="2147483654" r:id="R6881550b31724f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ceb7e84390486b" /><Relationship Type="http://schemas.openxmlformats.org/officeDocument/2006/relationships/notesSlide" Target="/ppt/notesSlides/notesSlide1.xml" Id="R843c9ee55ab24c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e0343c1d34ba1" /><Relationship Type="http://schemas.openxmlformats.org/officeDocument/2006/relationships/notesSlide" Target="/ppt/notesSlides/notesSlide2.xml" Id="R80c2cc1ee47f40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f5839916d24c50" /><Relationship Type="http://schemas.openxmlformats.org/officeDocument/2006/relationships/notesSlide" Target="/ppt/notesSlides/notesSlide3.xml" Id="R3a713bfdba9a4e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449491204540a6" /><Relationship Type="http://schemas.openxmlformats.org/officeDocument/2006/relationships/chart" Target="/ppt/slides/charts/chart1.xml" Id="Rfc7a3da8b48541c2" /><Relationship Type="http://schemas.openxmlformats.org/officeDocument/2006/relationships/notesSlide" Target="/ppt/notesSlides/notesSlide4.xml" Id="R089cc1ed8af743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ba5d5c66f4578" /><Relationship Type="http://schemas.openxmlformats.org/officeDocument/2006/relationships/chart" Target="/ppt/slides/charts/chart2.xml" Id="R8b01e2089cd74a11" /><Relationship Type="http://schemas.openxmlformats.org/officeDocument/2006/relationships/notesSlide" Target="/ppt/notesSlides/notesSlide5.xml" Id="Ra650212e590d49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33ba45b8614792" /><Relationship Type="http://schemas.openxmlformats.org/officeDocument/2006/relationships/chart" Target="/ppt/slides/charts/chart3.xml" Id="R163b5f2c7bc3423a" /><Relationship Type="http://schemas.openxmlformats.org/officeDocument/2006/relationships/notesSlide" Target="/ppt/notesSlides/notesSlide6.xml" Id="Rc38f9adfbc9948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222260bdf499c" /><Relationship Type="http://schemas.openxmlformats.org/officeDocument/2006/relationships/image" Target="/ppt/media/image.jpeg" Id="Rc84c8031f23e4b9c" /><Relationship Type="http://schemas.openxmlformats.org/officeDocument/2006/relationships/notesSlide" Target="/ppt/notesSlides/notesSlide7.xml" Id="R40c7c2a792a148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14f926c4224625" /><Relationship Type="http://schemas.openxmlformats.org/officeDocument/2006/relationships/notesSlide" Target="/ppt/notesSlides/notesSlide8.xml" Id="Rd9324b7bfd4c4d1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Valor</c:v>
          </c:tx>
          <c:spPr>
            <a:solidFill xmlns:a="http://schemas.openxmlformats.org/drawingml/2006/main">
              <a:srgbClr val="087D80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DFE7E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617B8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87D80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Referência constante</c:v>
                </c:pt>
                <c:pt idx="1">
                  <c:v>Histórico municipal</c:v>
                </c:pt>
                <c:pt idx="2">
                  <c:v>Logística selecionada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0.388857</c:v>
                </c:pt>
                <c:pt idx="1">
                  <c:v>0.508572</c:v>
                </c:pt>
                <c:pt idx="2">
                  <c:v>0.525013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62D3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65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7E8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AFAF6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AF6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Valor</c:v>
          </c:tx>
          <c:spPr>
            <a:solidFill xmlns:a="http://schemas.openxmlformats.org/drawingml/2006/main">
              <a:srgbClr val="087D80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Histórico municipal</c:v>
                </c:pt>
                <c:pt idx="1">
                  <c:v>UF</c:v>
                </c:pt>
                <c:pt idx="2">
                  <c:v>Região</c:v>
                </c:pt>
                <c:pt idx="3">
                  <c:v>Rede</c:v>
                </c:pt>
                <c:pt idx="4">
                  <c:v>População (log)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0.40017</c:v>
                </c:pt>
                <c:pt idx="1">
                  <c:v>0.167163</c:v>
                </c:pt>
                <c:pt idx="2">
                  <c:v>0.085453</c:v>
                </c:pt>
                <c:pt idx="3">
                  <c:v>0.027775</c:v>
                </c:pt>
                <c:pt idx="4">
                  <c:v>0.008195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62D3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52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7E8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AFAF6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AF6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Valor</c:v>
          </c:tx>
          <c:spPr>
            <a:solidFill xmlns:a="http://schemas.openxmlformats.org/drawingml/2006/main">
              <a:srgbClr val="087D80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87D8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88A34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Perfil 1</c:v>
                </c:pt>
                <c:pt idx="1">
                  <c:v>Perfil 2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66.917777</c:v>
                </c:pt>
                <c:pt idx="1">
                  <c:v>57.565201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62D3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7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AFAF6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AF6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A93A1-964A-47F1-B258-17947402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1DA"/>
                </a:solidFill>
                <a:latin typeface="Arial"/>
                <a:ea typeface="Arial"/>
                <a:cs typeface="Arial"/>
              </a:rPr>
              <a:t>Tech Challenge Fase 3     1/8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F969C-A739-47D4-8C9F-28046233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2D0C0"/>
                </a:solidFill>
                <a:latin typeface="Arial"/>
                <a:ea typeface="Arial"/>
                <a:cs typeface="Arial"/>
              </a:rPr>
              <a:t>ALFABETIZAÇÃO NO BRASIL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0C20C-E2BB-4271-B81B-8C46A734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Predição e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inteligência analítica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A1439-BDAC-4F01-8592-8799F26C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D8E5E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D8E5E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D8E5E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D8E5E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D8E5E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D8E5E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D8E5E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D8E5E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D8E5E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D8E5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D8E5E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8E5EA"/>
                </a:solidFill>
                <a:latin typeface="Arial"/>
                <a:ea typeface="Arial"/>
                <a:cs typeface="Arial"/>
              </a:rPr>
              <a:t>Risco educacional e planejamento de políticas públicas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14D8E-BEF5-441D-9870-35EAE1E4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Willian Schön Lopes</a:t>
            </a:r>
          </a:p>
        </p:txBody>
      </p:sp>
    </p:spTree>
    <p:extLst>
      <p:ext uri="{BB962C8B-B14F-4D97-AF65-F5344CB8AC3E}">
        <p14:creationId xmlns:p14="http://schemas.microsoft.com/office/powerpoint/2010/main" val="127161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3E4F6-73A8-4750-953B-19B4C6B80BEC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734300" y="33813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72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07093-DD0B-41AF-B11F-3B2A158BC43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48100" y="33813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72"/>
            </a:solidFill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DF67F3-D9C9-4B0A-9A2B-CED691C7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D3C"/>
                </a:solidFill>
                <a:latin typeface="Arial"/>
                <a:ea typeface="Arial"/>
                <a:cs typeface="Arial"/>
              </a:rPr>
              <a:t>Base individual com contexto histórico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44564-4E3A-4FE0-BF1D-41AA5911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Tech Challenge Fase 3     2/8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28B2E-8F76-4A58-A212-942EDF9C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381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87D80"/>
                </a:solidFill>
                <a:latin typeface="Arial"/>
                <a:ea typeface="Arial"/>
                <a:cs typeface="Arial"/>
              </a:rPr>
              <a:t>92.389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0C213-7A05-45C3-B369-00F6CF0D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2D3C"/>
                </a:solidFill>
                <a:latin typeface="Arial"/>
                <a:ea typeface="Arial"/>
                <a:cs typeface="Arial"/>
              </a:rPr>
              <a:t>alunos válidos de 2024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4685C-FD5E-4098-9C4A-C96E1B35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3906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2D3C"/>
                </a:solidFill>
                <a:latin typeface="Arial"/>
                <a:ea typeface="Arial"/>
                <a:cs typeface="Arial"/>
              </a:rPr>
              <a:t>5.193 municípios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A1E14-5E5E-4332-90B4-D506105A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19050">
            <a:solidFill>
              <a:srgbClr val="617B8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8DB67-E6FB-4CCF-9B0D-4D9B9180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617B8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617B8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617B8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617B8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617B8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617B8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617B8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617B8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617B8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617B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17B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17B8B"/>
                </a:solidFill>
                <a:latin typeface="Arial"/>
                <a:ea typeface="Arial"/>
                <a:cs typeface="Arial"/>
              </a:rPr>
              <a:t>Silver individual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7024E-7A3E-4CFB-95A7-70B464BF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D3C"/>
                </a:solidFill>
                <a:latin typeface="Arial"/>
                <a:ea typeface="Arial"/>
                <a:cs typeface="Arial"/>
              </a:rPr>
              <a:t>Alunos válidos de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1BCC3-90B4-437F-B9A7-A027AC2C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19050">
            <a:solidFill>
              <a:srgbClr val="B88A3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EDDC2-923B-49AA-A0A2-608FC5F4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B88A34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B88A34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B88A34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B88A34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B88A34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B88A34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B88A34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B88A34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B88A34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B88A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88A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8A34"/>
                </a:solidFill>
                <a:latin typeface="Arial"/>
                <a:ea typeface="Arial"/>
                <a:cs typeface="Arial"/>
              </a:rPr>
              <a:t>Gold de modelagem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A41AF-DC2D-4BDF-B237-80D769D0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5280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D3C"/>
                </a:solidFill>
                <a:latin typeface="Arial"/>
                <a:ea typeface="Arial"/>
                <a:cs typeface="Arial"/>
              </a:rPr>
              <a:t>Extensão local individual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43B28-D99E-44EE-BB7C-752DF018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6"/>
          </a:solidFill>
          <a:ln xmlns:a="http://schemas.openxmlformats.org/drawingml/2006/main" w="19050">
            <a:solidFill>
              <a:srgbClr val="087D8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E4123-58EA-4511-8B7C-43BF6BDD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146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D80"/>
                </a:solidFill>
                <a:latin typeface="Arial"/>
                <a:ea typeface="Arial"/>
                <a:cs typeface="Arial"/>
              </a:rPr>
              <a:t>Modelo de risco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C49678-5D39-4332-BB59-3BFC92E3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52800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D3C"/>
                </a:solidFill>
                <a:latin typeface="Arial"/>
                <a:ea typeface="Arial"/>
                <a:cs typeface="Arial"/>
              </a:rPr>
              <a:t>Não alfabetização =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234C7-FF26-46FA-844F-37A09DBB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D3C"/>
                </a:solidFill>
                <a:latin typeface="Arial"/>
                <a:ea typeface="Arial"/>
                <a:cs typeface="Arial"/>
              </a:rPr>
              <a:t>Contexto anterior ao desfecho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8CDED-2077-4C33-B4DA-56954866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Gold municipal de 2023 e população IBGE de 2022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CCCAF-9E22-454E-A342-8ACD3455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A Gold da Fase 2 é municipal. A integração individual é uma extensão local, com microdados privados.</a:t>
            </a:r>
          </a:p>
        </p:txBody>
      </p:sp>
    </p:spTree>
    <p:extLst>
      <p:ext uri="{BB962C8B-B14F-4D97-AF65-F5344CB8AC3E}">
        <p14:creationId xmlns:p14="http://schemas.microsoft.com/office/powerpoint/2010/main" val="15385563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7FA77-8FC1-411B-8188-C7A8F261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D3C"/>
                </a:solidFill>
                <a:latin typeface="Arial"/>
                <a:ea typeface="Arial"/>
                <a:cs typeface="Arial"/>
              </a:rPr>
              <a:t>Validação com municípios separados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6DCEB-E7FA-4DA3-92E3-9FAB9A62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Tech Challenge Fase 3     3/8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49184-7089-4196-A08B-A3FA36A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D80"/>
                </a:solidFill>
                <a:latin typeface="Arial"/>
                <a:ea typeface="Arial"/>
                <a:cs typeface="Arial"/>
              </a:rPr>
              <a:t>Treino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F5233-E541-4669-878C-39DEF61B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62D3C"/>
                </a:solidFill>
                <a:latin typeface="Arial"/>
                <a:ea typeface="Arial"/>
                <a:cs typeface="Arial"/>
              </a:rPr>
              <a:t>61.503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C721C-0594-4693-A9A6-9B77117A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3.074 municípios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28004-8A5B-42B1-AD2E-523C69F3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381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D80"/>
                </a:solidFill>
                <a:latin typeface="Arial"/>
                <a:ea typeface="Arial"/>
                <a:cs typeface="Arial"/>
              </a:rPr>
              <a:t>Validação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54E7A-4235-47A5-99A2-9DBA46F0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240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62D3C"/>
                </a:solidFill>
                <a:latin typeface="Arial"/>
                <a:ea typeface="Arial"/>
                <a:cs typeface="Arial"/>
              </a:rPr>
              <a:t>15.163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FCB22-522D-4EB1-9B44-1A5A8CA4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1.086 municípios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27797-7A86-4F90-A48A-1C8921ED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81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D80"/>
                </a:solidFill>
                <a:latin typeface="Arial"/>
                <a:ea typeface="Arial"/>
                <a:cs typeface="Arial"/>
              </a:rPr>
              <a:t>Teste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8D78E-7368-4C88-87DA-8C086225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240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62D3C"/>
                </a:solidFill>
                <a:latin typeface="Arial"/>
                <a:ea typeface="Arial"/>
                <a:cs typeface="Arial"/>
              </a:rPr>
              <a:t>15.723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60FE2-C415-404F-A03A-E4EF5BFB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1.033 municípios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E2013-F0D6-4894-AB64-A8BD2665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D3C"/>
                </a:solidFill>
                <a:latin typeface="Arial"/>
                <a:ea typeface="Arial"/>
                <a:cs typeface="Arial"/>
              </a:rPr>
              <a:t>Pré-processamento integrado ao estimador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56551-00C8-41EA-88AA-39C0B97D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3C"/>
                </a:solidFill>
                <a:latin typeface="Arial"/>
                <a:ea typeface="Arial"/>
                <a:cs typeface="Arial"/>
              </a:rPr>
              <a:t>Mediana e ausências, log da população, escala e One-Hot Encoding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0B3BD-7C30-46AB-A4E5-05E4E1D0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D80"/>
                </a:solidFill>
                <a:latin typeface="Arial"/>
                <a:ea typeface="Arial"/>
                <a:cs typeface="Arial"/>
              </a:rPr>
              <a:t>Busca com GroupKFold no treino. Escolha na validação.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06327-7DF6-4BD9-8347-FE09ECB7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Municípios sem sobreposição. Proficiência excluída dos atributos. Teste territorial em 2024, não temporal.</a:t>
            </a:r>
          </a:p>
        </p:txBody>
      </p:sp>
    </p:spTree>
    <p:extLst>
      <p:ext uri="{BB962C8B-B14F-4D97-AF65-F5344CB8AC3E}">
        <p14:creationId xmlns:p14="http://schemas.microsoft.com/office/powerpoint/2010/main" val="1177445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35FBA-7EC9-40BA-B9A0-B17B1C4C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D3C"/>
                </a:solidFill>
                <a:latin typeface="Arial"/>
                <a:ea typeface="Arial"/>
                <a:cs typeface="Arial"/>
              </a:rPr>
              <a:t>Desempenho e escolha do 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E8A80-34FE-480E-8729-4E0F55DA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Tech Challenge Fase 3     4/8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14B7E-54A7-4629-AEE1-129A5F47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D3C"/>
                </a:solidFill>
                <a:latin typeface="Arial"/>
                <a:ea typeface="Arial"/>
                <a:cs typeface="Arial"/>
              </a:rPr>
              <a:t>Average precision no teste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20C53E2-787C-4A4E-B45B-601B622C0529}"/>
              </a:ext>
            </a:extLst>
          </p:cNvPr>
          <p:cNvGraphicFramePr/>
          <p:nvPr/>
        </p:nvGraphicFramePr>
        <p:xfrm>
          <a:off xmlns:a="http://schemas.openxmlformats.org/drawingml/2006/main" x="514350" y="1857375"/>
          <a:ext xmlns:a="http://schemas.openxmlformats.org/drawingml/2006/main" cx="7067550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7a3da8b48541c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28B76-1268-4823-933A-52A883F1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95425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defPPr>
            <a:lvl1pPr>
              <a:defRPr sz="48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1pPr>
            <a:lvl2pPr>
              <a:defRPr sz="48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2pPr>
            <a:lvl3pPr>
              <a:defRPr sz="48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3pPr>
            <a:lvl4pPr>
              <a:defRPr sz="48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4pPr>
            <a:lvl5pPr>
              <a:defRPr sz="48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5pPr>
            <a:lvl6pPr>
              <a:defRPr sz="48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6pPr>
            <a:lvl7pPr>
              <a:defRPr sz="48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7pPr>
            <a:lvl8pPr>
              <a:defRPr sz="48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8pPr>
            <a:lvl9pPr>
              <a:defRPr sz="48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087D80"/>
                </a:solidFill>
                <a:latin typeface="Arial"/>
                <a:ea typeface="Arial"/>
                <a:cs typeface="Arial"/>
              </a:rPr>
              <a:t>0,656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56577-90A9-4B8E-B331-725E97FA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2D3C"/>
                </a:solidFill>
                <a:latin typeface="Arial"/>
                <a:ea typeface="Arial"/>
                <a:cs typeface="Arial"/>
              </a:rPr>
              <a:t>ROC-AUC no teste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63D2F-431E-43A8-931C-C42B4535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D3C"/>
                </a:solidFill>
                <a:latin typeface="Arial"/>
                <a:ea typeface="Arial"/>
                <a:cs typeface="Arial"/>
              </a:rPr>
              <a:t>Enriquecimento v2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42A16-E913-45B3-831A-DEA9EF59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Sem ganho observado</a:t>
            </a:r>
          </a:p>
          <a:p xmlns:a="http://schemas.openxmlformats.org/drawingml/2006/main">
            <a:pPr>
              <a:defRPr sz="21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na validação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B2292-22FD-468B-A61C-C0A93CBA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815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D80"/>
                </a:solidFill>
                <a:latin typeface="Arial"/>
                <a:ea typeface="Arial"/>
                <a:cs typeface="Arial"/>
              </a:rPr>
              <a:t>Referência mantida:</a:t>
            </a:r>
          </a:p>
          <a:p xmlns:a="http://schemas.openxmlformats.org/drawingml/2006/main">
            <a:pPr>
              <a:defRPr sz="195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D80"/>
                </a:solidFill>
                <a:latin typeface="Arial"/>
                <a:ea typeface="Arial"/>
                <a:cs typeface="Arial"/>
              </a:rPr>
              <a:t>logística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CD1DC-49E0-4F00-86B5-8E27B6E6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AP não é acurácia. Ganho sobre o histórico sem teste pareado de significância. Fonte: experimento v1.</a:t>
            </a:r>
          </a:p>
        </p:txBody>
      </p:sp>
    </p:spTree>
    <p:extLst>
      <p:ext uri="{BB962C8B-B14F-4D97-AF65-F5344CB8AC3E}">
        <p14:creationId xmlns:p14="http://schemas.microsoft.com/office/powerpoint/2010/main" val="20497509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A8141-E5DD-4F2F-B564-093F8353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D3C"/>
                </a:solidFill>
                <a:latin typeface="Arial"/>
                <a:ea typeface="Arial"/>
                <a:cs typeface="Arial"/>
              </a:rPr>
              <a:t>Risco contextual e limites da priorização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FCF80-75CB-4002-87EA-6054EE9A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Tech Challenge Fase 3     5/8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1F8A6-D5BE-4CBE-981E-F49726D8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D3C"/>
                </a:solidFill>
                <a:latin typeface="Arial"/>
                <a:ea typeface="Arial"/>
                <a:cs typeface="Arial"/>
              </a:rPr>
              <a:t>Influência global no modelo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39AE645-74D4-4CA7-8FFF-5F509B5A2B1B}"/>
              </a:ext>
            </a:extLst>
          </p:cNvPr>
          <p:cNvGraphicFramePr/>
          <p:nvPr/>
        </p:nvGraphicFramePr>
        <p:xfrm>
          <a:off xmlns:a="http://schemas.openxmlformats.org/drawingml/2006/main" x="514350" y="1819275"/>
          <a:ext xmlns:a="http://schemas.openxmlformats.org/drawingml/2006/main" cx="6724650" cy="3324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01e2089cd74a1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A5AA4-FEFB-40E3-BC99-249A0BB0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33500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725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defPPr>
            <a:lvl1pPr>
              <a:defRPr sz="4725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1pPr>
            <a:lvl2pPr>
              <a:defRPr sz="4725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2pPr>
            <a:lvl3pPr>
              <a:defRPr sz="4725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3pPr>
            <a:lvl4pPr>
              <a:defRPr sz="4725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4pPr>
            <a:lvl5pPr>
              <a:defRPr sz="4725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5pPr>
            <a:lvl6pPr>
              <a:defRPr sz="4725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6pPr>
            <a:lvl7pPr>
              <a:defRPr sz="4725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7pPr>
            <a:lvl8pPr>
              <a:defRPr sz="4725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8pPr>
            <a:lvl9pPr>
              <a:defRPr sz="4725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725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AC4F48"/>
                </a:solidFill>
                <a:latin typeface="Arial"/>
                <a:ea typeface="Arial"/>
                <a:cs typeface="Arial"/>
              </a:rPr>
              <a:t>95,76%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517BF-B284-488B-B6F0-29785E87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3524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3C"/>
                </a:solidFill>
                <a:latin typeface="Arial"/>
                <a:ea typeface="Arial"/>
                <a:cs typeface="Arial"/>
              </a:rPr>
              <a:t>sinalizados pelo limiar F2</a:t>
            </a:r>
          </a:p>
          <a:p xmlns:a="http://schemas.openxmlformats.org/drawingml/2006/main">
            <a:pPr>
              <a:defRPr sz="202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D3C"/>
                </a:solidFill>
                <a:latin typeface="Arial"/>
                <a:ea typeface="Arial"/>
                <a:cs typeface="Arial"/>
              </a:rPr>
              <a:t>no teste histórico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A8C47-3905-459B-8FF0-EE020939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814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D80"/>
                </a:solidFill>
                <a:latin typeface="Arial"/>
                <a:ea typeface="Arial"/>
                <a:cs typeface="Arial"/>
              </a:rPr>
              <a:t>Alternativa de até 20%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DB91D-3A56-489E-9EA0-021E1AE6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957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Somente na validação.</a:t>
            </a:r>
          </a:p>
          <a:p xmlns:a="http://schemas.openxmlformats.org/drawingml/2006/main">
            <a: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Sem teste independente.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C9DC4-6F75-492B-9DB1-15585B90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D80"/>
                </a:solidFill>
                <a:latin typeface="Arial"/>
                <a:ea typeface="Arial"/>
                <a:cs typeface="Arial"/>
              </a:rPr>
              <a:t>Padrão: escores sem alerta automático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FE9A7-9ABD-4A7B-B8BE-9C5E24BC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SHAP médio absoluto em log-odds, na validação. Série constante: efeito zero. Importância não implica causalidade.</a:t>
            </a:r>
          </a:p>
        </p:txBody>
      </p:sp>
    </p:spTree>
    <p:extLst>
      <p:ext uri="{BB962C8B-B14F-4D97-AF65-F5344CB8AC3E}">
        <p14:creationId xmlns:p14="http://schemas.microsoft.com/office/powerpoint/2010/main" val="7814269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F6742-7D74-4941-B1FA-289ADE9E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D3C"/>
                </a:solidFill>
                <a:latin typeface="Arial"/>
                <a:ea typeface="Arial"/>
                <a:cs typeface="Arial"/>
              </a:rPr>
              <a:t>Perfis territoriais e metas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291C2-813D-486D-8491-4D726B74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Tech Challenge Fase 3     6/8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5E7BD-EF41-4D19-AF69-662AF7B8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D3C"/>
                </a:solidFill>
                <a:latin typeface="Arial"/>
                <a:ea typeface="Arial"/>
                <a:cs typeface="Arial"/>
              </a:rPr>
              <a:t>Alfabetização média municipal em 2024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BE4F3DB-4871-4F6C-B5AE-3BE84C590C5E}"/>
              </a:ext>
            </a:extLst>
          </p:cNvPr>
          <p:cNvGraphicFramePr/>
          <p:nvPr/>
        </p:nvGraphicFramePr>
        <p:xfrm>
          <a:off xmlns:a="http://schemas.openxmlformats.org/drawingml/2006/main" x="628650" y="1885950"/>
          <a:ext xmlns:a="http://schemas.openxmlformats.org/drawingml/2006/main" cx="6572250" cy="2647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3b5f2c7bc3423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366D4-4B3E-476C-BE57-89C81D59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3.122 municípios no perfil 1</a:t>
            </a:r>
          </a:p>
          <a:p xmlns:a="http://schemas.openxmlformats.org/drawingml/2006/main">
            <a:pPr>
              <a:defRPr sz="19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2.443 municípios no perfil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59489-B6A3-460D-BE9D-1333DDBA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38275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AC4F4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AC4F48"/>
                </a:solidFill>
                <a:latin typeface="Arial"/>
                <a:ea typeface="Arial"/>
                <a:cs typeface="Arial"/>
              </a:rPr>
              <a:t>2.444 / 5.232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39913-06FB-4553-B6BC-12492829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57425"/>
            <a:ext cx="3857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D3C"/>
                </a:solidFill>
                <a:latin typeface="Arial"/>
                <a:ea typeface="Arial"/>
                <a:cs typeface="Arial"/>
              </a:rPr>
              <a:t>municípios abaixo</a:t>
            </a:r>
          </a:p>
          <a:p xmlns:a="http://schemas.openxmlformats.org/drawingml/2006/main">
            <a:pPr>
              <a:defRPr sz="2250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2D3C"/>
                </a:solidFill>
                <a:latin typeface="Arial"/>
                <a:ea typeface="Arial"/>
                <a:cs typeface="Arial"/>
              </a:rPr>
              <a:t>da meta de 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5E625-0750-4573-BAA0-D31C2B3A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48075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D80"/>
                </a:solidFill>
                <a:latin typeface="Arial"/>
                <a:ea typeface="Arial"/>
                <a:cs typeface="Arial"/>
              </a:rPr>
              <a:t>Cenários até 2030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83B73-974A-4313-A3D9-67802A6D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00525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Apoio à discussão do</a:t>
            </a:r>
          </a:p>
          <a:p xmlns:a="http://schemas.openxmlformats.org/drawingml/2006/main">
            <a:pPr>
              <a:defRPr sz="202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avanço necessário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F7404-5D0B-4857-B55E-ACF0E762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Perfis sem alfabetização na formação. Médias não ponderadas. Contexto social de 2010. Cenários sem validação preditiva.</a:t>
            </a:r>
          </a:p>
        </p:txBody>
      </p:sp>
    </p:spTree>
    <p:extLst>
      <p:ext uri="{BB962C8B-B14F-4D97-AF65-F5344CB8AC3E}">
        <p14:creationId xmlns:p14="http://schemas.microsoft.com/office/powerpoint/2010/main" val="14628513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52167-EA43-49AB-B519-03D6C599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D3C"/>
                </a:solidFill>
                <a:latin typeface="Arial"/>
                <a:ea typeface="Arial"/>
                <a:cs typeface="Arial"/>
              </a:rPr>
              <a:t>Execução comprovada e reprodução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BF0FD-E6F3-458E-BEED-2C80C1C4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Tech Challenge Fase 3     7/8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C07C5-4240-44E4-B40B-AB3DCB1EAE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c8031f23e4b9c"/>
          <a:stretch xmlns:a="http://schemas.openxmlformats.org/drawingml/2006/main"/>
        </p:blipFill>
        <p:spPr>
          <a:xfrm xmlns:a="http://schemas.openxmlformats.org/drawingml/2006/main">
            <a:off x="609600" y="1526381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35486-6B37-4298-AEA8-B21C8291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D80"/>
                </a:solidFill>
                <a:latin typeface="Arial"/>
                <a:ea typeface="Arial"/>
                <a:cs typeface="Arial"/>
              </a:rPr>
              <a:t>Consulta concluída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65C60-017F-4311-977A-62C1B390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D3C"/>
                </a:solidFill>
                <a:latin typeface="Arial"/>
                <a:ea typeface="Arial"/>
                <a:cs typeface="Arial"/>
              </a:rPr>
              <a:t>1,87 MB processados</a:t>
            </a:r>
          </a:p>
          <a:p xmlns:a="http://schemas.openxmlformats.org/drawingml/2006/main">
            <a:pPr>
              <a:defRPr sz="1875" b="0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D3C"/>
                </a:solidFill>
                <a:latin typeface="Arial"/>
                <a:ea typeface="Arial"/>
                <a:cs typeface="Arial"/>
              </a:rPr>
              <a:t>Teto de 1 GB na consulta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CB72E-C79F-4622-85A5-E88C2E16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766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2D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2D3C"/>
                </a:solidFill>
                <a:latin typeface="Arial"/>
                <a:ea typeface="Arial"/>
                <a:cs typeface="Arial"/>
              </a:rPr>
              <a:t>36 testes aprovados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90A8C-4E5E-44C6-AC3D-3AD4C186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3238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Demo sem GCP</a:t>
            </a:r>
          </a:p>
          <a:p xmlns:a="http://schemas.openxmlformats.org/drawingml/2006/main">
            <a:pPr>
              <a:defRPr sz="18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Previsão com modelo salvo</a:t>
            </a:r>
          </a:p>
          <a:p xmlns:a="http://schemas.openxmlformats.org/drawingml/2006/main">
            <a:pPr>
              <a:defRPr sz="1875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Hashes por execução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A8A5A-97DA-4349-BCE2-D3336A93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Captura real de 19/10/2026. Dados e consultas no GCP. Treinamento local. Microdados fora do Git.</a:t>
            </a:r>
          </a:p>
        </p:txBody>
      </p:sp>
    </p:spTree>
    <p:extLst>
      <p:ext uri="{BB962C8B-B14F-4D97-AF65-F5344CB8AC3E}">
        <p14:creationId xmlns:p14="http://schemas.microsoft.com/office/powerpoint/2010/main" val="3370431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2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92A2D-5C3B-4BFA-8C29-1FBA685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Apoio ao planejamento educacional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86B22-B2BF-40D9-8E61-D3AC5CD1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CD1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1DA"/>
                </a:solidFill>
                <a:latin typeface="Arial"/>
                <a:ea typeface="Arial"/>
                <a:cs typeface="Arial"/>
              </a:rPr>
              <a:t>Tech Challenge Fase 3     8/8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0351D-F154-45BB-B059-823D3368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96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Acompanhamento pedagógico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A6A66-9DBA-47D2-822C-3C1F91FA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5D7DE"/>
                </a:solidFill>
                <a:latin typeface="Arial"/>
                <a:ea typeface="Arial"/>
                <a:cs typeface="Arial"/>
              </a:rPr>
              <a:t>Escores como apoio ao diagnóstico humano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71986-6296-453F-B500-691AE7AD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896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72D0C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2D0C0"/>
                </a:solidFill>
                <a:latin typeface="Arial"/>
                <a:ea typeface="Arial"/>
                <a:cs typeface="Arial"/>
              </a:rPr>
              <a:t>Planejamento territorial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7E24C-4298-493C-9561-8AB07F2D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5D7DE"/>
                </a:solidFill>
                <a:latin typeface="Arial"/>
                <a:ea typeface="Arial"/>
                <a:cs typeface="Arial"/>
              </a:rPr>
              <a:t>Perfis municipais e monitoramento de metas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4BCCB-5C75-4679-90D8-039C375B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896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Antes do uso operacional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2E9A9-75F8-4E9D-96D9-03373AC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89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5D7DE"/>
                </a:solidFill>
                <a:latin typeface="Arial"/>
                <a:ea typeface="Arial"/>
                <a:cs typeface="Arial"/>
              </a:rPr>
              <a:t>Atualizar o contexto e validar em uma nova coorte</a:t>
            </a:r>
          </a:p>
        </p:txBody>
      </p:sp>
    </p:spTree>
    <p:extLst>
      <p:ext uri="{BB962C8B-B14F-4D97-AF65-F5344CB8AC3E}">
        <p14:creationId xmlns:p14="http://schemas.microsoft.com/office/powerpoint/2010/main" val="4890129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2026-10-19T16:35:51.7970000Z</dcterms:created>
  <dcterms:modified xsi:type="dcterms:W3CDTF">2026-10-19T16:35:51.7970000Z</dcterms:modified>
</coreProperties>
</file>