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DFE7E8"/>
              </a:solidFill>
            </c:spPr>
            <c:extLst>
              <c:ext xmlns:c16="http://schemas.microsoft.com/office/drawing/2014/chart" uri="{C3380CC4-5D6E-409C-BE32-E72D297353CC}">
                <c16:uniqueId val="{00000001-E469-4006-8B7D-60F730A7EE52}"/>
              </c:ext>
            </c:extLst>
          </c:dPt>
          <c:dPt>
            <c:idx val="1"/>
            <c:invertIfNegative val="0"/>
            <c:bubble3D val="0"/>
            <c:spPr>
              <a:solidFill>
                <a:srgbClr val="617B8B"/>
              </a:solidFill>
            </c:spPr>
            <c:extLst>
              <c:ext xmlns:c16="http://schemas.microsoft.com/office/drawing/2014/chart" uri="{C3380CC4-5D6E-409C-BE32-E72D297353CC}">
                <c16:uniqueId val="{00000003-E469-4006-8B7D-60F730A7EE5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469-4006-8B7D-60F730A7EE52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Referência constante</c:v>
                </c:pt>
                <c:pt idx="1">
                  <c:v>Histórico municipal</c:v>
                </c:pt>
                <c:pt idx="2">
                  <c:v>Logística selecionada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0.388857</c:v>
                </c:pt>
                <c:pt idx="1">
                  <c:v>0.508572</c:v>
                </c:pt>
                <c:pt idx="2">
                  <c:v>0.525013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469-4006-8B7D-60F730A7EE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65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2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Data'!$A$2:$A$6</c:f>
              <c:strCache>
                <c:ptCount val="5"/>
                <c:pt idx="0">
                  <c:v>Histórico municipal</c:v>
                </c:pt>
                <c:pt idx="1">
                  <c:v>UF</c:v>
                </c:pt>
                <c:pt idx="2">
                  <c:v>Região</c:v>
                </c:pt>
                <c:pt idx="3">
                  <c:v>Rede</c:v>
                </c:pt>
                <c:pt idx="4">
                  <c:v>População (log)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0.40017</c:v>
                </c:pt>
                <c:pt idx="1">
                  <c:v>0.167163</c:v>
                </c:pt>
                <c:pt idx="2">
                  <c:v>0.085453</c:v>
                </c:pt>
                <c:pt idx="3">
                  <c:v>0.027775</c:v>
                </c:pt>
                <c:pt idx="4">
                  <c:v>0.008195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A2-4EF8-81B5-343454A8FF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52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1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87D80"/>
              </a:solidFill>
            </c:spPr>
            <c:extLst>
              <c:ext xmlns:c16="http://schemas.microsoft.com/office/drawing/2014/chart" uri="{C3380CC4-5D6E-409C-BE32-E72D297353CC}">
                <c16:uniqueId val="{00000001-295C-48B6-9A39-5FD8D2857E62}"/>
              </c:ext>
            </c:extLst>
          </c:dPt>
          <c:dPt>
            <c:idx val="1"/>
            <c:invertIfNegative val="0"/>
            <c:bubble3D val="0"/>
            <c:spPr>
              <a:solidFill>
                <a:srgbClr val="B88A34"/>
              </a:solidFill>
            </c:spPr>
            <c:extLst>
              <c:ext xmlns:c16="http://schemas.microsoft.com/office/drawing/2014/chart" uri="{C3380CC4-5D6E-409C-BE32-E72D297353CC}">
                <c16:uniqueId val="{00000003-295C-48B6-9A39-5FD8D2857E6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Perfil 1</c:v>
                </c:pt>
                <c:pt idx="1">
                  <c:v>Perfil 2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66.917777</c:v>
                </c:pt>
                <c:pt idx="1">
                  <c:v>57.565201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C-48B6-9A39-5FD8D2857E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20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 a 00:18</a:t>
            </a:r>
          </a:p>
          <a:p>
            <a:endParaRPr/>
          </a:p>
          <a:p>
            <a:r>
              <a:t>Olá, sou Willian Schön Lopes. Neste projeto, utilizei os dados de alfabetização para estimar risco educacional e analisar diferenças entre municípios. A proposta é apoiar gestores na organização do acompanhamento pedagógico e no planejamento de políticas públicas, com evidências e limites explícitos.</a:t>
            </a:r>
          </a:p>
          <a:p>
            <a:endParaRPr/>
          </a:p>
          <a:p>
            <a:r>
              <a:t>Fontes locais: README.md; docs/atendimento_requisitos.md.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00:18 a 00:56</a:t>
            </a:r>
          </a:p>
          <a:p>
            <a:endParaRPr/>
          </a:p>
          <a:p>
            <a:r>
              <a:t>O desafio principal é classificar se um aluno foi considerado alfabetizado ou não. Como a Gold da fase anterior era municipal, construí uma extensão local de modelagem, integrando os alunos válidos da Silver ao contexto histórico da Gold. A amostra contém cerca de 92 mil alunos de 2024, em mais de cinco mil municípios. Utilizei o indicador municipal de 2023 e a população de 2022. Excluí ausentes e registros sem proficiência válida. A proficiência individual não entra como variável preditora.</a:t>
            </a:r>
          </a:p>
          <a:p>
            <a:endParaRPr/>
          </a:p>
          <a:p>
            <a:r>
              <a:t>Fontes locais: reports/v1/split_summary.csv; sql/extract_training.sql; README.md.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00:56 a 01:38</a:t>
            </a:r>
          </a:p>
          <a:p>
            <a:endParaRPr/>
          </a:p>
          <a:p>
            <a:r>
              <a:t>A separação entre treino, validação e teste mantém cada município em um único conjunto, reduzindo o vazamento territorial. A pipeline integra imputação por mediana, transformação da população, padronização e codificação das categorias. Comparei referências simples, regressão logística e floresta aleatória. A busca de hiperparâmetros usa validação cruzada por município apenas no treino. Escolhi o modelo na validação e preservei o teste para a avaliação original. Essa separação mede generalização territorial em 2024, mas ainda não comprova previsão para anos futuros.</a:t>
            </a:r>
          </a:p>
          <a:p>
            <a:endParaRPr/>
          </a:p>
          <a:p>
            <a:r>
              <a:t>Fontes locais: src/run.py; src/modeling/pipelines.py; src/preprocessing/dataset.py; reports/v1/experiment.json.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01:38 a 02:20</a:t>
            </a:r>
          </a:p>
          <a:p>
            <a:endParaRPr/>
          </a:p>
          <a:p>
            <a:r>
              <a:t>A regressão logística foi a referência selecionada. No teste, sua precisão média, ou average precision, foi de aproximadamente zero vírgula cinquenta e três, contra zero vírgula cinquenta e um do indicador histórico. A área sob a curva ROC foi de zero vírgula sessenta e seis. O ganho observado é modesto e não significa cinquenta e três por cento de acurácia. Depois, acrescentei contexto socioeconômico e econômico. Como não houve melhora na validação, mantive o modelo mais simples, sem reutilizar o teste para essa escolha.</a:t>
            </a:r>
          </a:p>
          <a:p>
            <a:endParaRPr/>
          </a:p>
          <a:p>
            <a:r>
              <a:t>Fontes locais: reports/v1/experiment.json; reports/v2/experiment.json; reports/v2/validation_comparison.csv.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02:20 a 03:03</a:t>
            </a:r>
          </a:p>
          <a:p>
            <a:endParaRPr/>
          </a:p>
          <a:p>
            <a:r>
              <a:t>A análise SHAP mostra que o histórico municipal tem maior influência nas previsões, seguido pela localização. Isso reforça que o modelo estima principalmente risco contextual e não explica causalidade. Também há uma limitação operacional importante: o limiar que busca alto recall sinaliza quase 96 por cento dos alunos. Portanto, não oferece uma priorização seletiva. A alternativa de sinalizar cerca de 20 por cento foi explorada somente na validação. Por isso, a ferramenta entrega escores por padrão e mantém qualquer decisão pedagógica sob responsabilidade humana.</a:t>
            </a:r>
          </a:p>
          <a:p>
            <a:endParaRPr/>
          </a:p>
          <a:p>
            <a:r>
              <a:t>Fontes locais: reports/v2/shap_global.csv; reports/v1/experiment.json; reports/v2/frozen_v1_logistic_capacity.csv;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03:03 a 03:48</a:t>
            </a:r>
          </a:p>
          <a:p>
            <a:endParaRPr/>
          </a:p>
          <a:p>
            <a:r>
              <a:t>Na análise territorial, identifiquei dois perfis entre mais de cinco mil municípios, sem utilizar alfabetização para formar os grupos. Depois, observei médias municipais de alfabetização próximas de 67 e 58 por cento. São médias não ponderadas e associações, não efeitos causais. O contexto social utilizado é de 2010, o que limita sua atualização. Além disso, 2.444 dos 5.232 municípios com dados comparáveis ficaram abaixo da meta de 2024. Os cenários até 2030 ajudam a discutir o avanço necessário, mas não são previsões estatisticamente validadas.</a:t>
            </a:r>
          </a:p>
          <a:p>
            <a:endParaRPr/>
          </a:p>
          <a:p>
            <a:r>
              <a:t>Fontes locais: reports/territorial/profile_summary.csv; reports/territorial/summary.json; reports/territorial/INTERPRETACAO.md.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03:48 a 04:20</a:t>
            </a:r>
          </a:p>
          <a:p>
            <a:endParaRPr/>
          </a:p>
          <a:p>
            <a:r>
              <a:t>Esta captura mostra uma consulta realmente concluída no BigQuery, com processamento e limite de consumo registrados. Os dados e as consultas ficam no GCP, enquanto o treinamento ocorreu localmente. O projeto conta com 36 testes aprovados, demonstração artificial sem credenciais e previsão com o modelo salvo. Cada execução preserva parâmetros, versões e hashes. O histórico de commits e as branches locais documentam a evolução, sem publicar os registros individuais dos alunos.</a:t>
            </a:r>
          </a:p>
          <a:p>
            <a:endParaRPr/>
          </a:p>
          <a:p>
            <a:r>
              <a:t>Fontes locais: images/evidence/gcp_query_processing_controls.png; reports/evidence/GCP_SCREENSHOTS.md; reports/VERIFICACAO_ENGENHARIA.md; docs/GIT_WORKFLOW.md.</a:t>
            </a:r>
          </a:p>
          <a:p>
            <a:r>
              <a:t>A captura é real. Treinamento local.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04:20 a 04:45</a:t>
            </a:r>
          </a:p>
          <a:p>
            <a:endParaRPr/>
          </a:p>
          <a:p>
            <a:r>
              <a:t>O valor estratégico está em combinar acompanhamento pedagógico com planejamento territorial e monitoramento de metas. A solução oferece uma base auditável para discutir onde aprofundar diagnósticos e como distribuir apoio. Antes do uso operacional, precisamos atualizar o contexto, avaliar uma nova coorte e pactuar critérios com os educadores. A tecnologia apoia a decisão pública, preservando a avaliação humana. Obrigado.</a:t>
            </a:r>
          </a:p>
          <a:p>
            <a:endParaRPr/>
          </a:p>
          <a:p>
            <a:r>
              <a:t>Fontes locais: README.md;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80B701A-945D-4CCA-8D25-6656EABB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BCA3381-8DEB-4776-B490-5FB9BE3EA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DBD64CA-D7AA-477E-AF37-C273E3D4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E0A747-E777-4181-A826-69679FBA1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DD869B9-B608-412C-B62B-2A8911F3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EF7222E-AB65-4166-9FCA-634DF90D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E735CBE-B2F7-49AB-996F-9BFABF873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8104AD8C-5944-4E83-97F0-C10AC548F9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00448EC-4EFE-4332-A9D3-A010A8EBD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78EDA9-9A2C-4F66-93DF-477E97FA8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A25A93A1-964A-47F1-B258-17947402C439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1/8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8DF969C-A739-47D4-8C9F-280462335033}"/>
              </a:ext>
            </a:extLst>
          </p:cNvPr>
          <p:cNvSpPr>
            <a:spLocks noGrp="1"/>
          </p:cNvSpPr>
          <p:nvPr/>
        </p:nvSpPr>
        <p:spPr>
          <a:xfrm>
            <a:off x="609600" y="86677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ALFABETIZAÇÃO NO BRASIL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0B0C20C-E2BB-4271-B81B-8C46A734B4E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858500" cy="1809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Predição e</a:t>
            </a:r>
          </a:p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inteligência analítica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9EA1439-BDAC-4F01-8592-8799F26CE379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0191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8E5EA"/>
                </a:solidFill>
                <a:latin typeface="Arial"/>
                <a:ea typeface="Arial"/>
                <a:cs typeface="Arial"/>
              </a:rPr>
              <a:t>Risco educacional e planejamento de políticas públicas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B14D8E-BEF5-441D-9870-35EAE1E4C399}"/>
              </a:ext>
            </a:extLst>
          </p:cNvPr>
          <p:cNvSpPr>
            <a:spLocks noGrp="1"/>
          </p:cNvSpPr>
          <p:nvPr/>
        </p:nvSpPr>
        <p:spPr>
          <a:xfrm>
            <a:off x="647700" y="5324475"/>
            <a:ext cx="9048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Willian Schön Lopes</a:t>
            </a:r>
          </a:p>
        </p:txBody>
      </p:sp>
    </p:spTree>
    <p:extLst>
      <p:ext uri="{BB962C8B-B14F-4D97-AF65-F5344CB8AC3E}">
        <p14:creationId xmlns:p14="http://schemas.microsoft.com/office/powerpoint/2010/main" val="12716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9A43E4F6-73A8-4750-953B-19B4C6B80BEC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77343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65807093-DD0B-41AF-B11F-3B2A158BC439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8481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sp>
        <p:nvSpPr>
          <p:cNvPr id="20" name="Retângulo 19">
            <a:extLst>
              <a:ext uri="{FF2B5EF4-FFF2-40B4-BE49-F238E27FC236}">
                <a16:creationId xmlns:a16="http://schemas.microsoft.com/office/drawing/2014/main" id="{C7DF67F3-D9C9-4B0A-9A2B-CED691C75CF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Base individual com contexto histórico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244564-4E3A-4FE0-BF1D-41AA591164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2/8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DB28B2E-8F76-4A58-A212-942EDF9C6ACC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38100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92.389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090C213-7A05-45C3-B369-00F6CF0DB3E2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994685C-FD5E-4098-9C4A-C96E1B35AFA7}"/>
              </a:ext>
            </a:extLst>
          </p:cNvPr>
          <p:cNvSpPr>
            <a:spLocks noGrp="1"/>
          </p:cNvSpPr>
          <p:nvPr/>
        </p:nvSpPr>
        <p:spPr>
          <a:xfrm>
            <a:off x="7067550" y="1390650"/>
            <a:ext cx="4381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5.193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AFA1E14-5E5E-4332-90B4-D506105AAD64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617B8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378DB67-E6FB-4CCF-9B0D-4D9B918051E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17B8B"/>
                </a:solidFill>
                <a:latin typeface="Arial"/>
                <a:ea typeface="Arial"/>
                <a:cs typeface="Arial"/>
              </a:rPr>
              <a:t>Silver individual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317024E-7A3E-4CFB-95A7-70B464BF3B40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6C1BCC3-90B4-437F-B9A7-A027AC2C24DA}"/>
              </a:ext>
            </a:extLst>
          </p:cNvPr>
          <p:cNvSpPr>
            <a:spLocks noGrp="1"/>
          </p:cNvSpPr>
          <p:nvPr/>
        </p:nvSpPr>
        <p:spPr>
          <a:xfrm>
            <a:off x="44958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B88A34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54EDDC2-923B-49AA-A0A2-608FC5F41CED}"/>
              </a:ext>
            </a:extLst>
          </p:cNvPr>
          <p:cNvSpPr>
            <a:spLocks noGrp="1"/>
          </p:cNvSpPr>
          <p:nvPr/>
        </p:nvSpPr>
        <p:spPr>
          <a:xfrm>
            <a:off x="46672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88A34"/>
                </a:solidFill>
                <a:latin typeface="Arial"/>
                <a:ea typeface="Arial"/>
                <a:cs typeface="Arial"/>
              </a:rPr>
              <a:t>Gold de modelagem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35A41AF-DC2D-4BDF-B237-80D769D0C95A}"/>
              </a:ext>
            </a:extLst>
          </p:cNvPr>
          <p:cNvSpPr>
            <a:spLocks noGrp="1"/>
          </p:cNvSpPr>
          <p:nvPr/>
        </p:nvSpPr>
        <p:spPr>
          <a:xfrm>
            <a:off x="46672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Extensão local individual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1B43B28-D99E-44EE-BB7C-752DF01825D1}"/>
              </a:ext>
            </a:extLst>
          </p:cNvPr>
          <p:cNvSpPr>
            <a:spLocks noGrp="1"/>
          </p:cNvSpPr>
          <p:nvPr/>
        </p:nvSpPr>
        <p:spPr>
          <a:xfrm>
            <a:off x="8382000" y="2762250"/>
            <a:ext cx="314325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087D80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E7E4123-58EA-4511-8B7C-43BF6BDD7741}"/>
              </a:ext>
            </a:extLst>
          </p:cNvPr>
          <p:cNvSpPr>
            <a:spLocks noGrp="1"/>
          </p:cNvSpPr>
          <p:nvPr/>
        </p:nvSpPr>
        <p:spPr>
          <a:xfrm>
            <a:off x="8553450" y="2914650"/>
            <a:ext cx="28003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Modelo de risco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DC49678-5D39-4332-BB59-3BFC92E390F4}"/>
              </a:ext>
            </a:extLst>
          </p:cNvPr>
          <p:cNvSpPr>
            <a:spLocks noGrp="1"/>
          </p:cNvSpPr>
          <p:nvPr/>
        </p:nvSpPr>
        <p:spPr>
          <a:xfrm>
            <a:off x="8553450" y="3352800"/>
            <a:ext cx="28003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Não alfabetização = 1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ACA234C7-FF26-46FA-844F-37A09DBB6FA6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Contexto anterior ao desfecho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798CDED-2077-4C33-B4DA-569548664403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Gold municipal de 2023 e população IBGE de 2022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4BCCCAF-9E22-454E-A342-8ACD3455EB9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 Gold da Fase 2 é municipal. A integração individual é uma extensão local, com microdados privados.</a:t>
            </a:r>
          </a:p>
        </p:txBody>
      </p:sp>
    </p:spTree>
    <p:extLst>
      <p:ext uri="{BB962C8B-B14F-4D97-AF65-F5344CB8AC3E}">
        <p14:creationId xmlns:p14="http://schemas.microsoft.com/office/powerpoint/2010/main" val="1538556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C4A7FA77-8FC1-411B-8188-C7A8F26152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Validação com municípios separados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3A6DCEB-E7FA-4DA3-92E3-9FAB9A62FA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3/8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9C49184-7089-4196-A08B-A3FA36A77B0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Treino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81F5233-E541-4669-878C-39DEF61B5D90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61.503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04C721C-0594-4693-A9A6-9B77117A69C3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3.074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AE28004-8A5B-42B1-AD2E-523C69F358C5}"/>
              </a:ext>
            </a:extLst>
          </p:cNvPr>
          <p:cNvSpPr>
            <a:spLocks noGrp="1"/>
          </p:cNvSpPr>
          <p:nvPr/>
        </p:nvSpPr>
        <p:spPr>
          <a:xfrm>
            <a:off x="44958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654E7A-4235-47A5-99A2-9DBA46F0B945}"/>
              </a:ext>
            </a:extLst>
          </p:cNvPr>
          <p:cNvSpPr>
            <a:spLocks noGrp="1"/>
          </p:cNvSpPr>
          <p:nvPr/>
        </p:nvSpPr>
        <p:spPr>
          <a:xfrm>
            <a:off x="44958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15.163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5BFCB22-522D-4EB1-9B44-1A5A8CA4B9B8}"/>
              </a:ext>
            </a:extLst>
          </p:cNvPr>
          <p:cNvSpPr>
            <a:spLocks noGrp="1"/>
          </p:cNvSpPr>
          <p:nvPr/>
        </p:nvSpPr>
        <p:spPr>
          <a:xfrm>
            <a:off x="44958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1.086 municípios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227797-7A86-4F90-A48A-1C8921ED6D5F}"/>
              </a:ext>
            </a:extLst>
          </p:cNvPr>
          <p:cNvSpPr>
            <a:spLocks noGrp="1"/>
          </p:cNvSpPr>
          <p:nvPr/>
        </p:nvSpPr>
        <p:spPr>
          <a:xfrm>
            <a:off x="83820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Teste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028D78E-7368-4C88-87DA-8C086225D8C6}"/>
              </a:ext>
            </a:extLst>
          </p:cNvPr>
          <p:cNvSpPr>
            <a:spLocks noGrp="1"/>
          </p:cNvSpPr>
          <p:nvPr/>
        </p:nvSpPr>
        <p:spPr>
          <a:xfrm>
            <a:off x="83820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15.723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FF60FE2-C415-404F-A03A-E4EF5BFBCD4E}"/>
              </a:ext>
            </a:extLst>
          </p:cNvPr>
          <p:cNvSpPr>
            <a:spLocks noGrp="1"/>
          </p:cNvSpPr>
          <p:nvPr/>
        </p:nvSpPr>
        <p:spPr>
          <a:xfrm>
            <a:off x="83820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1.033 municípios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04E2013-F0D6-4894-AB64-A8BD26659561}"/>
              </a:ext>
            </a:extLst>
          </p:cNvPr>
          <p:cNvSpPr>
            <a:spLocks noGrp="1"/>
          </p:cNvSpPr>
          <p:nvPr/>
        </p:nvSpPr>
        <p:spPr>
          <a:xfrm>
            <a:off x="609600" y="34480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Pré-processamento integrado ao estimador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5F56551-00C8-41EA-88AA-39C0B97DBF7A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820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Mediana e ausências, log da população, escala e One-Hot Encoding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0E0B3BD-7C30-46AB-A4E5-05E4E1D0DFF0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Busca com GroupKFold no treino. Escolha na validação.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1106327-7DF6-4BD9-8347-FE09ECB7037C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Municípios sem sobreposição. Proficiência excluída dos atributos. Teste territorial em 2024, não temporal.</a:t>
            </a:r>
          </a:p>
        </p:txBody>
      </p:sp>
    </p:spTree>
    <p:extLst>
      <p:ext uri="{BB962C8B-B14F-4D97-AF65-F5344CB8AC3E}">
        <p14:creationId xmlns:p14="http://schemas.microsoft.com/office/powerpoint/2010/main" val="117744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27435FBA-7EC9-40BA-B9A0-B17B1C4C3D1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Desempenho e escolha do modelo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45E8A80-34FE-480E-8729-4E0F55DA3F68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4/8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4E14B7E-54A7-4629-AEE1-129A5F474462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858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Average precision no teste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D20C53E2-787C-4A4E-B45B-601B622C0529}"/>
              </a:ext>
            </a:extLst>
          </p:cNvPr>
          <p:cNvGraphicFramePr/>
          <p:nvPr/>
        </p:nvGraphicFramePr>
        <p:xfrm>
          <a:off x="514350" y="1857375"/>
          <a:ext cx="706755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5E28B76-1268-4823-933A-52A883F1429A}"/>
              </a:ext>
            </a:extLst>
          </p:cNvPr>
          <p:cNvSpPr>
            <a:spLocks noGrp="1"/>
          </p:cNvSpPr>
          <p:nvPr/>
        </p:nvSpPr>
        <p:spPr>
          <a:xfrm>
            <a:off x="8286750" y="1180795"/>
            <a:ext cx="3143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87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0,656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E856577-90A9-4B8E-B331-725E97FAA598}"/>
              </a:ext>
            </a:extLst>
          </p:cNvPr>
          <p:cNvSpPr>
            <a:spLocks noGrp="1"/>
          </p:cNvSpPr>
          <p:nvPr/>
        </p:nvSpPr>
        <p:spPr>
          <a:xfrm>
            <a:off x="8286750" y="2028520"/>
            <a:ext cx="3143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ROC-AUC no teste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CE63D2F-431E-43A8-931C-C42B4535662D}"/>
              </a:ext>
            </a:extLst>
          </p:cNvPr>
          <p:cNvSpPr>
            <a:spLocks noGrp="1"/>
          </p:cNvSpPr>
          <p:nvPr/>
        </p:nvSpPr>
        <p:spPr>
          <a:xfrm>
            <a:off x="8286750" y="2526888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Enriquecimento</a:t>
            </a:r>
            <a:r>
              <a:rPr sz="2100" b="1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 v2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DE42A16-E913-45B3-831A-DEA9EF59BCFE}"/>
              </a:ext>
            </a:extLst>
          </p:cNvPr>
          <p:cNvSpPr>
            <a:spLocks noGrp="1"/>
          </p:cNvSpPr>
          <p:nvPr/>
        </p:nvSpPr>
        <p:spPr>
          <a:xfrm>
            <a:off x="8286750" y="3079338"/>
            <a:ext cx="314325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ganho observado</a:t>
            </a:r>
          </a:p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na validação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C8B2292-22FD-468B-A61C-C0A93CBA98BA}"/>
              </a:ext>
            </a:extLst>
          </p:cNvPr>
          <p:cNvSpPr>
            <a:spLocks noGrp="1"/>
          </p:cNvSpPr>
          <p:nvPr/>
        </p:nvSpPr>
        <p:spPr>
          <a:xfrm>
            <a:off x="8286750" y="391969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Referência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mantida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logística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original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86CD1DC-49E0-4F00-86B5-8E27B6E61E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é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acurácia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Ganho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sobre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o histórico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teste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pareado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de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significância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Fonte: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experimento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v1.</a:t>
            </a:r>
          </a:p>
        </p:txBody>
      </p:sp>
    </p:spTree>
    <p:extLst>
      <p:ext uri="{BB962C8B-B14F-4D97-AF65-F5344CB8AC3E}">
        <p14:creationId xmlns:p14="http://schemas.microsoft.com/office/powerpoint/2010/main" val="204975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896A8141-E5DD-4F2F-B564-093F83534DC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Risco contextual e limites da priorização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B8FCF80-75CB-4002-87EA-6054EE9AEE60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5/8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181F8A6-D5BE-4CBE-981E-F49726D8EFD0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66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Influência global no modelo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F39AE645-74D4-4CA7-8FFF-5F509B5A2B1B}"/>
              </a:ext>
            </a:extLst>
          </p:cNvPr>
          <p:cNvGraphicFramePr/>
          <p:nvPr/>
        </p:nvGraphicFramePr>
        <p:xfrm>
          <a:off x="514350" y="1819275"/>
          <a:ext cx="6724650" cy="3324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FBA5AA4-FEFB-40E3-BC99-249A0BB07B84}"/>
              </a:ext>
            </a:extLst>
          </p:cNvPr>
          <p:cNvSpPr>
            <a:spLocks noGrp="1"/>
          </p:cNvSpPr>
          <p:nvPr/>
        </p:nvSpPr>
        <p:spPr>
          <a:xfrm>
            <a:off x="7981950" y="1333500"/>
            <a:ext cx="3524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95,76%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DC517BF-B284-488B-B6F0-29785E878167}"/>
              </a:ext>
            </a:extLst>
          </p:cNvPr>
          <p:cNvSpPr>
            <a:spLocks noGrp="1"/>
          </p:cNvSpPr>
          <p:nvPr/>
        </p:nvSpPr>
        <p:spPr>
          <a:xfrm>
            <a:off x="7981950" y="2209800"/>
            <a:ext cx="352425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sinalizados pelo limiar F2</a:t>
            </a:r>
          </a:p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no teste histórico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D7A8C47-3905-459B-8FF0-EE0209394D3C}"/>
              </a:ext>
            </a:extLst>
          </p:cNvPr>
          <p:cNvSpPr>
            <a:spLocks noGrp="1"/>
          </p:cNvSpPr>
          <p:nvPr/>
        </p:nvSpPr>
        <p:spPr>
          <a:xfrm>
            <a:off x="7981950" y="3581400"/>
            <a:ext cx="3524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Alternativa de até 20%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C0DB91D-3A56-489E-9EA0-021E1AE69F59}"/>
              </a:ext>
            </a:extLst>
          </p:cNvPr>
          <p:cNvSpPr>
            <a:spLocks noGrp="1"/>
          </p:cNvSpPr>
          <p:nvPr/>
        </p:nvSpPr>
        <p:spPr>
          <a:xfrm>
            <a:off x="7981950" y="4095750"/>
            <a:ext cx="3524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Somente na validação.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teste independente.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08C9DC4-6F75-492B-9DB1-15585B907063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Padrão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escores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sem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alerta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automático</a:t>
            </a:r>
            <a:endParaRPr sz="2325" b="1" dirty="0">
              <a:solidFill>
                <a:srgbClr val="087D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0FE9A7-9ABD-4A7B-B8BE-9C5E24BCFB3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SHAP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absoluto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em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log-odds,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Série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constante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: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efeito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zero.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Importância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implica</a:t>
            </a:r>
            <a:r>
              <a:rPr lang="pt-BR"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causalidade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426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C9DF6742-7D74-4941-B1FA-289ADE9EE4D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Perfis territoriais e metas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42291C2-813D-486D-8491-4D726B74423D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6/8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665E7BD-EF41-4D19-AF69-662AF7B8D18D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7048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Alfabetização média municipal em 2024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0BE4F3DB-4871-4F6C-B5AE-3BE84C590C5E}"/>
              </a:ext>
            </a:extLst>
          </p:cNvPr>
          <p:cNvGraphicFramePr/>
          <p:nvPr/>
        </p:nvGraphicFramePr>
        <p:xfrm>
          <a:off x="628650" y="1885950"/>
          <a:ext cx="6572250" cy="2647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D6B366D4-4B3E-476C-BE57-89C81D59187D}"/>
              </a:ext>
            </a:extLst>
          </p:cNvPr>
          <p:cNvSpPr>
            <a:spLocks noGrp="1"/>
          </p:cNvSpPr>
          <p:nvPr/>
        </p:nvSpPr>
        <p:spPr>
          <a:xfrm>
            <a:off x="819150" y="4686300"/>
            <a:ext cx="6286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3.122 municípios no perfil 1</a:t>
            </a:r>
          </a:p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2.443 municípios no perfil 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B659489-B6A3-460D-BE9D-1333DDBA9493}"/>
              </a:ext>
            </a:extLst>
          </p:cNvPr>
          <p:cNvSpPr>
            <a:spLocks noGrp="1"/>
          </p:cNvSpPr>
          <p:nvPr/>
        </p:nvSpPr>
        <p:spPr>
          <a:xfrm>
            <a:off x="7658100" y="1438275"/>
            <a:ext cx="390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2.444 / 5.232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FA39913-06FB-4553-B6BC-1249282985B0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municípios abaixo</a:t>
            </a:r>
          </a:p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da meta de 2024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5B5E625-0750-4573-BAA0-D31C2B3A3939}"/>
              </a:ext>
            </a:extLst>
          </p:cNvPr>
          <p:cNvSpPr>
            <a:spLocks noGrp="1"/>
          </p:cNvSpPr>
          <p:nvPr/>
        </p:nvSpPr>
        <p:spPr>
          <a:xfrm>
            <a:off x="7658100" y="3648075"/>
            <a:ext cx="39052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Cenários até 2030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E683B73-974A-4313-A3D9-67802A6D3AFB}"/>
              </a:ext>
            </a:extLst>
          </p:cNvPr>
          <p:cNvSpPr>
            <a:spLocks noGrp="1"/>
          </p:cNvSpPr>
          <p:nvPr/>
        </p:nvSpPr>
        <p:spPr>
          <a:xfrm>
            <a:off x="7658100" y="4200525"/>
            <a:ext cx="3905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Apoio à discussão do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avanço necessário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23F7404-5D0B-4857-B55E-ACF0E762AB4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Perfis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alfabetização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formação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ponderadas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Contexto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social de 2010.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Cenários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preditiva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851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FF052167-EA43-49AB-B519-03D6C599A0A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Execução comprovada e reprodução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1CBF0FD-E6F3-458E-BEED-2C80C1C4C03A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7/8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BC07C5-4240-44E4-B40B-AB3DCB1EA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526381"/>
            <a:ext cx="7239000" cy="40719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1035486-6B37-4298-AEA8-B21C829194A0}"/>
              </a:ext>
            </a:extLst>
          </p:cNvPr>
          <p:cNvSpPr>
            <a:spLocks noGrp="1"/>
          </p:cNvSpPr>
          <p:nvPr/>
        </p:nvSpPr>
        <p:spPr>
          <a:xfrm>
            <a:off x="8286750" y="1428750"/>
            <a:ext cx="323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Consulta concluída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A365C60-017F-4311-977A-62C1B3909B8A}"/>
              </a:ext>
            </a:extLst>
          </p:cNvPr>
          <p:cNvSpPr>
            <a:spLocks noGrp="1"/>
          </p:cNvSpPr>
          <p:nvPr/>
        </p:nvSpPr>
        <p:spPr>
          <a:xfrm>
            <a:off x="8286750" y="20002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1,87 MB processados</a:t>
            </a:r>
          </a:p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Teto de 1 GB na consulta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4DCB72E-C79F-4622-85A5-E88C2E165B84}"/>
              </a:ext>
            </a:extLst>
          </p:cNvPr>
          <p:cNvSpPr>
            <a:spLocks noGrp="1"/>
          </p:cNvSpPr>
          <p:nvPr/>
        </p:nvSpPr>
        <p:spPr>
          <a:xfrm>
            <a:off x="8286750" y="3276600"/>
            <a:ext cx="3238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36 testes aprovados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2790A8C-4E5E-44C6-AC3D-3AD4C1860F28}"/>
              </a:ext>
            </a:extLst>
          </p:cNvPr>
          <p:cNvSpPr>
            <a:spLocks noGrp="1"/>
          </p:cNvSpPr>
          <p:nvPr/>
        </p:nvSpPr>
        <p:spPr>
          <a:xfrm>
            <a:off x="8286750" y="3943350"/>
            <a:ext cx="32385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Demo sem GCP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Previsão com modelo salvo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Hashes por execução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79A8A5A-97DA-4349-BCE2-D3336A931E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Captura real de 19/10/2026. Dados e consultas no GCP. Treinamento local. Microdados fora do Git.</a:t>
            </a:r>
          </a:p>
        </p:txBody>
      </p:sp>
    </p:spTree>
    <p:extLst>
      <p:ext uri="{BB962C8B-B14F-4D97-AF65-F5344CB8AC3E}">
        <p14:creationId xmlns:p14="http://schemas.microsoft.com/office/powerpoint/2010/main" val="337043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6492A2D-5C3B-4BFA-8C29-1FBA685C01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Apoio ao planejamento educacional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6F86B22-B2BF-40D9-8E61-D3AC5CD1A94C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8/8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C0351D-F154-45BB-B059-823D336886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Acompanhamento pedagógico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9A6A66-9DBA-47D2-822C-3C1F91FA6D8B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Escores como apoio ao diagnóstico humano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DA71986-6296-453F-B500-691AE7ADC838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Planejamento territorial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3D7E24C-4298-493C-9561-8AB07F2D1EA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896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Perfis municipais e monitoramento de metas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734BCCB-5C75-4679-90D8-039C375B378B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089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Antes do uso operacional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092E9A9-75F8-4E9D-96D9-03373ACF8473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Atualizar o contexto e validar em uma nova coorte</a:t>
            </a:r>
          </a:p>
        </p:txBody>
      </p:sp>
    </p:spTree>
    <p:extLst>
      <p:ext uri="{BB962C8B-B14F-4D97-AF65-F5344CB8AC3E}">
        <p14:creationId xmlns:p14="http://schemas.microsoft.com/office/powerpoint/2010/main" val="4890129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1363</Words>
  <Application/>
  <DocSecurity>0</DocSecurity>
  <PresentationFormat>Widescreen</PresentationFormat>
  <Paragraphs>128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Aptos</vt:lpstr>
      <vt:lpstr>Arial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>Willian Schön Lopes</cp:lastModifiedBy>
  <cp:revision>1</cp:revision>
  <dcterms:created xsi:type="dcterms:W3CDTF">2026-10-19T16:35:51Z</dcterms:created>
  <dcterms:modified xsi:type="dcterms:W3CDTF">2026-10-19T17:46:07Z</dcterms:modified>
</cp:coreProperties>
</file>